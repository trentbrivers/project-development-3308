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5" r:id="rId1"/>
  </p:sldMasterIdLst>
  <p:sldIdLst>
    <p:sldId id="256" r:id="rId2"/>
    <p:sldId id="257" r:id="rId3"/>
    <p:sldId id="268" r:id="rId4"/>
    <p:sldId id="269" r:id="rId5"/>
    <p:sldId id="262" r:id="rId6"/>
    <p:sldId id="258" r:id="rId7"/>
    <p:sldId id="260" r:id="rId8"/>
    <p:sldId id="263" r:id="rId9"/>
    <p:sldId id="264" r:id="rId10"/>
    <p:sldId id="261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59"/>
  </p:normalViewPr>
  <p:slideViewPr>
    <p:cSldViewPr snapToGrid="0">
      <p:cViewPr varScale="1">
        <p:scale>
          <a:sx n="87" d="100"/>
          <a:sy n="87" d="100"/>
        </p:scale>
        <p:origin x="10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99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16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36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3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119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6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7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9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3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01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8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D61C344-5676-D043-B061-D741C9C7D11C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B1C13D8-2679-E347-BF52-5B360443C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9BE4-6700-F250-4E84-445AD74C19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 Interactions During Game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0E104-2B72-5569-82EE-960A27C84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CSPB 3308 !Jeopardy Project</a:t>
            </a:r>
          </a:p>
        </p:txBody>
      </p:sp>
    </p:spTree>
    <p:extLst>
      <p:ext uri="{BB962C8B-B14F-4D97-AF65-F5344CB8AC3E}">
        <p14:creationId xmlns:p14="http://schemas.microsoft.com/office/powerpoint/2010/main" val="2620322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DF58-64A1-F195-F460-9DE8B589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Problem: Fitting constraint validation INTO the unittest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2430F-5843-97CF-F247-DB2D07B2F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Specific DML programs that insert into the tables created during the DDL step are still under construction, but the tables must be tested to make sure they work as designed.</a:t>
            </a:r>
          </a:p>
          <a:p>
            <a:r>
              <a:rPr lang="en-US" dirty="0"/>
              <a:t>Do I:</a:t>
            </a:r>
          </a:p>
          <a:p>
            <a:pPr lvl="1"/>
            <a:r>
              <a:rPr lang="en-US" dirty="0"/>
              <a:t>Make a dummy program, </a:t>
            </a:r>
            <a:r>
              <a:rPr lang="en-US" dirty="0" err="1"/>
              <a:t>dbDMLStubs.py</a:t>
            </a:r>
            <a:r>
              <a:rPr lang="en-US" dirty="0"/>
              <a:t>, that contains mock functions only to test constraints so that I can write a unittest for it? </a:t>
            </a:r>
          </a:p>
          <a:p>
            <a:pPr lvl="1"/>
            <a:r>
              <a:rPr lang="en-US" dirty="0"/>
              <a:t>Wait for backend connectors to specific gameplay events to exist? (Might ship some DB components that don’t actually work in MVP.)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283E72D8-FFB2-E5A3-72F8-456A9E62D16C}"/>
              </a:ext>
            </a:extLst>
          </p:cNvPr>
          <p:cNvSpPr/>
          <p:nvPr/>
        </p:nvSpPr>
        <p:spPr>
          <a:xfrm>
            <a:off x="1855355" y="3875884"/>
            <a:ext cx="638827" cy="576197"/>
          </a:xfrm>
          <a:prstGeom prst="rightArrow">
            <a:avLst/>
          </a:prstGeom>
          <a:solidFill>
            <a:schemeClr val="accent3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0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449D-E79B-9E5F-3555-DE9911E8B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23DDA-E950-AF2D-615E-2ABF707E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SQL ERD (v4)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5CDF9-80B5-EFE8-853A-BC400F559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Previous designs caused problems because two weak entities (GameQuestion &amp; PlayerAnswer) had a foreign key relationship!</a:t>
            </a:r>
          </a:p>
        </p:txBody>
      </p:sp>
    </p:spTree>
    <p:extLst>
      <p:ext uri="{BB962C8B-B14F-4D97-AF65-F5344CB8AC3E}">
        <p14:creationId xmlns:p14="http://schemas.microsoft.com/office/powerpoint/2010/main" val="3322045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D531AA0-CB59-2225-F40E-64B4858D21C1}"/>
              </a:ext>
            </a:extLst>
          </p:cNvPr>
          <p:cNvGrpSpPr/>
          <p:nvPr/>
        </p:nvGrpSpPr>
        <p:grpSpPr>
          <a:xfrm>
            <a:off x="112222" y="604896"/>
            <a:ext cx="11967556" cy="5648207"/>
            <a:chOff x="0" y="511687"/>
            <a:chExt cx="12362544" cy="583462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D65DAF8-92CD-7088-7C6E-EE4AC75CD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6541" y="511688"/>
              <a:ext cx="6106003" cy="583462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9F5090-17AB-2846-7406-8D2F5CCE0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11687"/>
              <a:ext cx="6123806" cy="5834626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AEF56DC-8B25-B331-6B46-17EA22AD191A}"/>
              </a:ext>
            </a:extLst>
          </p:cNvPr>
          <p:cNvSpPr txBox="1"/>
          <p:nvPr/>
        </p:nvSpPr>
        <p:spPr>
          <a:xfrm>
            <a:off x="2837288" y="825910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V2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318ED-F16B-8A58-B088-7C6FA766F170}"/>
              </a:ext>
            </a:extLst>
          </p:cNvPr>
          <p:cNvSpPr txBox="1"/>
          <p:nvPr/>
        </p:nvSpPr>
        <p:spPr>
          <a:xfrm>
            <a:off x="8513544" y="825910"/>
            <a:ext cx="122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V3 – new!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488D1C-EE7C-32A7-09CE-A72B44595979}"/>
              </a:ext>
            </a:extLst>
          </p:cNvPr>
          <p:cNvSpPr/>
          <p:nvPr/>
        </p:nvSpPr>
        <p:spPr>
          <a:xfrm>
            <a:off x="4041058" y="2123768"/>
            <a:ext cx="1091381" cy="1305231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5B29C7-5305-CFD6-9E09-ABC1DB2671E4}"/>
              </a:ext>
            </a:extLst>
          </p:cNvPr>
          <p:cNvSpPr/>
          <p:nvPr/>
        </p:nvSpPr>
        <p:spPr>
          <a:xfrm>
            <a:off x="9969206" y="1195242"/>
            <a:ext cx="666566" cy="1305231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71F0CA-6BC9-8604-45F2-DDC2C07C1616}"/>
              </a:ext>
            </a:extLst>
          </p:cNvPr>
          <p:cNvSpPr/>
          <p:nvPr/>
        </p:nvSpPr>
        <p:spPr>
          <a:xfrm>
            <a:off x="8976610" y="2912533"/>
            <a:ext cx="992596" cy="1794934"/>
          </a:xfrm>
          <a:prstGeom prst="rect">
            <a:avLst/>
          </a:prstGeom>
          <a:solidFill>
            <a:srgbClr val="0070C0">
              <a:alpha val="50000"/>
            </a:srgb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0EB2D1-CCAC-D410-8AAB-90F5384EBB09}"/>
              </a:ext>
            </a:extLst>
          </p:cNvPr>
          <p:cNvSpPr txBox="1"/>
          <p:nvPr/>
        </p:nvSpPr>
        <p:spPr>
          <a:xfrm>
            <a:off x="4868129" y="125058"/>
            <a:ext cx="4866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V4: Added Attribute GameCode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03673E-DA61-6D8C-EA46-EA0F4C93F71C}"/>
              </a:ext>
            </a:extLst>
          </p:cNvPr>
          <p:cNvCxnSpPr>
            <a:stCxn id="2" idx="3"/>
          </p:cNvCxnSpPr>
          <p:nvPr/>
        </p:nvCxnSpPr>
        <p:spPr>
          <a:xfrm>
            <a:off x="9735097" y="309724"/>
            <a:ext cx="900675" cy="4755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34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870E-BD54-6270-08D0-83559B560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flow events from PAGE_TESTING.MD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536E7-61AE-7E57-F2DE-B1005A9FD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94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68EF3E-03B3-BDC0-6A78-DDE308BA9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4" y="100208"/>
            <a:ext cx="6713815" cy="332879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45E744C-4CCA-6CE2-BC17-1EF45450CE1E}"/>
              </a:ext>
            </a:extLst>
          </p:cNvPr>
          <p:cNvGrpSpPr/>
          <p:nvPr/>
        </p:nvGrpSpPr>
        <p:grpSpPr>
          <a:xfrm>
            <a:off x="7519795" y="100208"/>
            <a:ext cx="4572000" cy="4356100"/>
            <a:chOff x="7519795" y="100208"/>
            <a:chExt cx="4572000" cy="43561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A9CD17-3979-279C-2666-F5AA43968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19795" y="100208"/>
              <a:ext cx="4572000" cy="435610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499023-3413-D92B-EDD5-6AA0437843DD}"/>
                </a:ext>
              </a:extLst>
            </p:cNvPr>
            <p:cNvSpPr/>
            <p:nvPr/>
          </p:nvSpPr>
          <p:spPr>
            <a:xfrm>
              <a:off x="7519795" y="100208"/>
              <a:ext cx="1073060" cy="126512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F855111-911B-B6E7-3A49-40B55597964D}"/>
              </a:ext>
            </a:extLst>
          </p:cNvPr>
          <p:cNvSpPr txBox="1"/>
          <p:nvPr/>
        </p:nvSpPr>
        <p:spPr>
          <a:xfrm>
            <a:off x="0" y="3681824"/>
            <a:ext cx="7772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Event: User inputs Username into title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MVP, treat this as a sign-in field; receive string, check if name is in DB.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not, INSERT INTO </a:t>
            </a:r>
            <a:r>
              <a:rPr lang="en-US" dirty="0">
                <a:solidFill>
                  <a:srgbClr val="00B0F0"/>
                </a:solidFill>
              </a:rPr>
              <a:t>Player</a:t>
            </a:r>
            <a:r>
              <a:rPr lang="en-US" dirty="0"/>
              <a:t> (</a:t>
            </a:r>
            <a:r>
              <a:rPr lang="en-US" dirty="0">
                <a:solidFill>
                  <a:srgbClr val="00B050"/>
                </a:solidFill>
              </a:rPr>
              <a:t>UserName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so, UNIQUE constraint works and prevents existing user scores from being overwritten by INSERT INTO. Downstream gameplay events will ALTER TABLE Player WHERE UserName={input string}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 login/register fields are outside the MVP.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87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308BB-391B-0E59-0E35-748AB60AD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9602" cy="33068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EFBB4D-9BC7-7A82-E978-4269E5961D0F}"/>
              </a:ext>
            </a:extLst>
          </p:cNvPr>
          <p:cNvSpPr txBox="1"/>
          <p:nvPr/>
        </p:nvSpPr>
        <p:spPr>
          <a:xfrm>
            <a:off x="0" y="3551130"/>
            <a:ext cx="69060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Event: User clicks Start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new row is inserted into </a:t>
            </a:r>
            <a:r>
              <a:rPr lang="en-US" dirty="0">
                <a:solidFill>
                  <a:srgbClr val="00B0F0"/>
                </a:solidFill>
              </a:rPr>
              <a:t>Game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new row is inserted into </a:t>
            </a:r>
            <a:r>
              <a:rPr lang="en-US" dirty="0">
                <a:solidFill>
                  <a:srgbClr val="00B0F0"/>
                </a:solidFill>
              </a:rPr>
              <a:t>Contestant</a:t>
            </a:r>
            <a:r>
              <a:rPr lang="en-US" dirty="0"/>
              <a:t> where </a:t>
            </a:r>
            <a:r>
              <a:rPr lang="en-US" dirty="0">
                <a:solidFill>
                  <a:srgbClr val="00B050"/>
                </a:solidFill>
              </a:rPr>
              <a:t>PlayerID</a:t>
            </a:r>
            <a:r>
              <a:rPr lang="en-US" dirty="0"/>
              <a:t> is the current player and </a:t>
            </a:r>
            <a:r>
              <a:rPr lang="en-US" dirty="0">
                <a:solidFill>
                  <a:srgbClr val="00B050"/>
                </a:solidFill>
              </a:rPr>
              <a:t>GameID</a:t>
            </a:r>
            <a:r>
              <a:rPr lang="en-US" dirty="0"/>
              <a:t> is the row that was just created above (the default PlayerScore is 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set of J, DJ, and FJ questions are queried from </a:t>
            </a:r>
            <a:r>
              <a:rPr lang="en-US" dirty="0">
                <a:solidFill>
                  <a:srgbClr val="00B0F0"/>
                </a:solidFill>
              </a:rPr>
              <a:t>Question</a:t>
            </a:r>
            <a:r>
              <a:rPr lang="en-US" dirty="0"/>
              <a:t>; each </a:t>
            </a:r>
            <a:r>
              <a:rPr lang="en-US" dirty="0">
                <a:solidFill>
                  <a:srgbClr val="00B050"/>
                </a:solidFill>
              </a:rPr>
              <a:t>QuestionID</a:t>
            </a:r>
            <a:r>
              <a:rPr lang="en-US" dirty="0"/>
              <a:t> gets associated with the </a:t>
            </a:r>
            <a:r>
              <a:rPr lang="en-US" dirty="0">
                <a:solidFill>
                  <a:srgbClr val="00B050"/>
                </a:solidFill>
              </a:rPr>
              <a:t>GameID</a:t>
            </a:r>
            <a:r>
              <a:rPr lang="en-US" dirty="0"/>
              <a:t> created above in a new </a:t>
            </a:r>
            <a:r>
              <a:rPr lang="en-US" dirty="0">
                <a:solidFill>
                  <a:srgbClr val="00B0F0"/>
                </a:solidFill>
              </a:rPr>
              <a:t>GameQuestion</a:t>
            </a:r>
            <a:r>
              <a:rPr lang="en-US" dirty="0"/>
              <a:t> Row. By default, IsAnswered is ‘N’.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the MVP, this is just Game_6692. Random selection and player-chosen categories are stretch goals.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7956671-36E8-BD2E-20D0-D33902588E3C}"/>
              </a:ext>
            </a:extLst>
          </p:cNvPr>
          <p:cNvGrpSpPr/>
          <p:nvPr/>
        </p:nvGrpSpPr>
        <p:grpSpPr>
          <a:xfrm>
            <a:off x="6906019" y="0"/>
            <a:ext cx="4572000" cy="4356100"/>
            <a:chOff x="6906019" y="0"/>
            <a:chExt cx="4572000" cy="43561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67BDCDC-F37E-2B52-164F-2CA0A78D7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6019" y="0"/>
              <a:ext cx="4572000" cy="435610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D7D0F3-E896-D732-53D6-405971FCFDDB}"/>
                </a:ext>
              </a:extLst>
            </p:cNvPr>
            <p:cNvSpPr/>
            <p:nvPr/>
          </p:nvSpPr>
          <p:spPr>
            <a:xfrm>
              <a:off x="6989523" y="2279737"/>
              <a:ext cx="901874" cy="81123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5E9A96-74F1-4051-0F6B-1C979398C5AB}"/>
                </a:ext>
              </a:extLst>
            </p:cNvPr>
            <p:cNvSpPr/>
            <p:nvPr/>
          </p:nvSpPr>
          <p:spPr>
            <a:xfrm>
              <a:off x="8693063" y="3090971"/>
              <a:ext cx="1189972" cy="126512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0C4252-AC10-CAEE-C009-C08315528423}"/>
                </a:ext>
              </a:extLst>
            </p:cNvPr>
            <p:cNvSpPr/>
            <p:nvPr/>
          </p:nvSpPr>
          <p:spPr>
            <a:xfrm>
              <a:off x="10342329" y="2113768"/>
              <a:ext cx="1073060" cy="81123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B871F6-C604-18CF-4270-21A9EC2F998F}"/>
                </a:ext>
              </a:extLst>
            </p:cNvPr>
            <p:cNvSpPr/>
            <p:nvPr/>
          </p:nvSpPr>
          <p:spPr>
            <a:xfrm>
              <a:off x="10296394" y="12526"/>
              <a:ext cx="1169099" cy="10897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296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4F7B7-6C9B-F9A8-96D2-B5C0F968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BD93D3-6028-8F98-EB39-86847F15C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08162" cy="24831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37BD79-525F-311A-703C-C810020B4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731" y="18790"/>
            <a:ext cx="4572000" cy="43561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70493A-60F6-35A7-6AF4-8B0CA024362C}"/>
              </a:ext>
            </a:extLst>
          </p:cNvPr>
          <p:cNvSpPr txBox="1"/>
          <p:nvPr/>
        </p:nvSpPr>
        <p:spPr>
          <a:xfrm>
            <a:off x="0" y="4374890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Event: User clicks Leaderboard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query is run to SELECT </a:t>
            </a:r>
            <a:r>
              <a:rPr lang="en-US" dirty="0">
                <a:solidFill>
                  <a:srgbClr val="00B050"/>
                </a:solidFill>
              </a:rPr>
              <a:t>UserName</a:t>
            </a:r>
            <a:r>
              <a:rPr lang="en-US" dirty="0"/>
              <a:t> FROM </a:t>
            </a:r>
            <a:r>
              <a:rPr lang="en-US" dirty="0">
                <a:solidFill>
                  <a:srgbClr val="00B0F0"/>
                </a:solidFill>
              </a:rPr>
              <a:t>Player</a:t>
            </a:r>
            <a:r>
              <a:rPr lang="en-US" dirty="0"/>
              <a:t> ORDER BY </a:t>
            </a:r>
            <a:r>
              <a:rPr lang="en-US" dirty="0">
                <a:solidFill>
                  <a:srgbClr val="00B050"/>
                </a:solidFill>
              </a:rPr>
              <a:t>HighScore</a:t>
            </a:r>
            <a:r>
              <a:rPr lang="en-US" dirty="0"/>
              <a:t> DESC LIMIT 5 to get the top 5 players in descending order. This info is passed to the front end for display.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47D198-C8F0-6707-C11D-8A0E7C935774}"/>
              </a:ext>
            </a:extLst>
          </p:cNvPr>
          <p:cNvSpPr/>
          <p:nvPr/>
        </p:nvSpPr>
        <p:spPr>
          <a:xfrm>
            <a:off x="7551642" y="36442"/>
            <a:ext cx="1073060" cy="1265129"/>
          </a:xfrm>
          <a:prstGeom prst="rect">
            <a:avLst/>
          </a:prstGeom>
          <a:solidFill>
            <a:schemeClr val="accent1">
              <a:alpha val="5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EE0CAD-7191-4ED5-821A-0FA46EBA1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129" y="1492320"/>
            <a:ext cx="4023497" cy="288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83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A0A7-0BD7-481E-7FFB-FC398C82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97620-7853-25C9-CBCF-64726FF41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9602" cy="33068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F2411C-2416-A1B8-CD60-23B0D1557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019" y="0"/>
            <a:ext cx="4572000" cy="4356100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327B8F-EF38-9081-7373-69124244D46E}"/>
              </a:ext>
            </a:extLst>
          </p:cNvPr>
          <p:cNvSpPr txBox="1"/>
          <p:nvPr/>
        </p:nvSpPr>
        <p:spPr>
          <a:xfrm>
            <a:off x="0" y="4374890"/>
            <a:ext cx="7772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Event: User clicks Settings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utilized in MVP; this seems to be where the randomized or user-selected questions feature would be implemented in the stretch goals. I think it might change the args passed around in Start Game but I don’t think it touches the DB on its own.</a:t>
            </a:r>
          </a:p>
        </p:txBody>
      </p:sp>
    </p:spTree>
    <p:extLst>
      <p:ext uri="{BB962C8B-B14F-4D97-AF65-F5344CB8AC3E}">
        <p14:creationId xmlns:p14="http://schemas.microsoft.com/office/powerpoint/2010/main" val="3690738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3763D-F2CA-77CA-9679-AEC09E857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723529" cy="3429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C3DC18-D1D5-A15B-7E97-9C8FB92C375D}"/>
              </a:ext>
            </a:extLst>
          </p:cNvPr>
          <p:cNvSpPr txBox="1"/>
          <p:nvPr/>
        </p:nvSpPr>
        <p:spPr>
          <a:xfrm>
            <a:off x="0" y="4374890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Event: User selects a Question 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Nothing happens to the DB for this specific event; the question, value, and category arrays to populate the board have already been extracted by the backend and passed to the frontend.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625A1-FBB7-611B-2D98-45F8F45B0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512" y="18790"/>
            <a:ext cx="4572000" cy="43561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140912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427B8-85DE-C48F-A8A3-9D28B608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" y="157110"/>
            <a:ext cx="4688080" cy="32718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532B80-8194-B551-3902-B98234A6772A}"/>
              </a:ext>
            </a:extLst>
          </p:cNvPr>
          <p:cNvSpPr txBox="1"/>
          <p:nvPr/>
        </p:nvSpPr>
        <p:spPr>
          <a:xfrm>
            <a:off x="-1" y="4463378"/>
            <a:ext cx="121920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Event: User inputs an answer to a specific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backend can pass this answer string to the </a:t>
            </a:r>
            <a:r>
              <a:rPr lang="en-US" dirty="0">
                <a:solidFill>
                  <a:srgbClr val="00B050"/>
                </a:solidFill>
              </a:rPr>
              <a:t>AnswerText</a:t>
            </a:r>
            <a:r>
              <a:rPr lang="en-US" dirty="0"/>
              <a:t> attribute of </a:t>
            </a:r>
            <a:r>
              <a:rPr lang="en-US" dirty="0">
                <a:solidFill>
                  <a:srgbClr val="00B0F0"/>
                </a:solidFill>
              </a:rPr>
              <a:t>PlayerAnswer</a:t>
            </a:r>
            <a:r>
              <a:rPr lang="en-US" dirty="0"/>
              <a:t> where the </a:t>
            </a:r>
            <a:r>
              <a:rPr lang="en-US" dirty="0">
                <a:solidFill>
                  <a:srgbClr val="00B050"/>
                </a:solidFill>
              </a:rPr>
              <a:t>PlayerID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GameID</a:t>
            </a:r>
            <a:r>
              <a:rPr lang="en-US" dirty="0"/>
              <a:t>, and </a:t>
            </a:r>
            <a:r>
              <a:rPr lang="en-US" dirty="0">
                <a:solidFill>
                  <a:srgbClr val="00B050"/>
                </a:solidFill>
              </a:rPr>
              <a:t>QuestionID</a:t>
            </a:r>
            <a:r>
              <a:rPr lang="en-US" dirty="0"/>
              <a:t> match the current game tile.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storage feature is probably not essential for the MVP; the two use-cases I envisioned for it are: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Storing submitted answers in a Durable way to be ACID-compliant with power failures/crashes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Capturing the kind of data that would be used for internal data analytics/customer service in a real app (e.g., what kinds of correct-</a:t>
            </a:r>
            <a:r>
              <a:rPr lang="en-US" dirty="0" err="1"/>
              <a:t>ish</a:t>
            </a:r>
            <a:r>
              <a:rPr lang="en-US" dirty="0"/>
              <a:t> answers is our algorithm scoring as wrong and making customers unhappy? What kinds of questions is essentially nobody getting right, and should we deprioritize these categories for future expansions?)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0FC4AE1-C55C-E459-BBC5-37C7AA17607B}"/>
              </a:ext>
            </a:extLst>
          </p:cNvPr>
          <p:cNvGrpSpPr/>
          <p:nvPr/>
        </p:nvGrpSpPr>
        <p:grpSpPr>
          <a:xfrm>
            <a:off x="7620000" y="0"/>
            <a:ext cx="4572000" cy="4356100"/>
            <a:chOff x="7620000" y="0"/>
            <a:chExt cx="4572000" cy="43561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4A5D983-1940-FC5C-A1F9-F7B8EA7C3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0" y="0"/>
              <a:ext cx="4572000" cy="435610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9C11ED-8B6B-E736-C67D-A2FE445EFB4B}"/>
                </a:ext>
              </a:extLst>
            </p:cNvPr>
            <p:cNvSpPr/>
            <p:nvPr/>
          </p:nvSpPr>
          <p:spPr>
            <a:xfrm>
              <a:off x="9484898" y="1020543"/>
              <a:ext cx="1237180" cy="111797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10249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3DE20-5769-A06D-69DF-E08A39503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8" y="79326"/>
            <a:ext cx="7344697" cy="364159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201AFBC-AAC5-57AE-B28A-44BE543D9737}"/>
              </a:ext>
            </a:extLst>
          </p:cNvPr>
          <p:cNvGrpSpPr/>
          <p:nvPr/>
        </p:nvGrpSpPr>
        <p:grpSpPr>
          <a:xfrm>
            <a:off x="7620000" y="0"/>
            <a:ext cx="4572000" cy="4356100"/>
            <a:chOff x="7620000" y="0"/>
            <a:chExt cx="4572000" cy="43561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30B4755-78C5-48DF-9F5F-E5072764D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0" y="0"/>
              <a:ext cx="4572000" cy="435610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F313B0-0283-79EA-D64C-F86FADB5F67B}"/>
                </a:ext>
              </a:extLst>
            </p:cNvPr>
            <p:cNvSpPr/>
            <p:nvPr/>
          </p:nvSpPr>
          <p:spPr>
            <a:xfrm>
              <a:off x="9484898" y="1020543"/>
              <a:ext cx="1237180" cy="111797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8562DC-6779-5C26-2680-41928713FC65}"/>
                </a:ext>
              </a:extLst>
            </p:cNvPr>
            <p:cNvSpPr/>
            <p:nvPr/>
          </p:nvSpPr>
          <p:spPr>
            <a:xfrm>
              <a:off x="7737988" y="2270522"/>
              <a:ext cx="830825" cy="84138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32457D-0CA0-FBBC-C4AF-59381AC0FCF9}"/>
                </a:ext>
              </a:extLst>
            </p:cNvPr>
            <p:cNvSpPr/>
            <p:nvPr/>
          </p:nvSpPr>
          <p:spPr>
            <a:xfrm>
              <a:off x="7620000" y="0"/>
              <a:ext cx="1052052" cy="12241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1B9880B-3629-A00A-8010-0A0E9C7F3303}"/>
              </a:ext>
            </a:extLst>
          </p:cNvPr>
          <p:cNvSpPr txBox="1"/>
          <p:nvPr/>
        </p:nvSpPr>
        <p:spPr>
          <a:xfrm>
            <a:off x="-1" y="4463378"/>
            <a:ext cx="121920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Event: Backend scores user answer to a specific question as in/correct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Attribute</a:t>
            </a:r>
            <a:r>
              <a:rPr lang="en-US" dirty="0">
                <a:solidFill>
                  <a:srgbClr val="00B050"/>
                </a:solidFill>
              </a:rPr>
              <a:t> IsCorrect</a:t>
            </a:r>
            <a:r>
              <a:rPr lang="en-US" dirty="0"/>
              <a:t> in </a:t>
            </a:r>
            <a:r>
              <a:rPr lang="en-US" dirty="0">
                <a:solidFill>
                  <a:srgbClr val="00B0F0"/>
                </a:solidFill>
              </a:rPr>
              <a:t>PlayerAnswer</a:t>
            </a:r>
            <a:r>
              <a:rPr lang="en-US" dirty="0"/>
              <a:t> where </a:t>
            </a:r>
            <a:r>
              <a:rPr lang="en-US" dirty="0">
                <a:solidFill>
                  <a:srgbClr val="00B050"/>
                </a:solidFill>
              </a:rPr>
              <a:t>PlayerID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GameID</a:t>
            </a:r>
            <a:r>
              <a:rPr lang="en-US" dirty="0"/>
              <a:t>, and </a:t>
            </a:r>
            <a:r>
              <a:rPr lang="en-US" dirty="0">
                <a:solidFill>
                  <a:srgbClr val="00B050"/>
                </a:solidFill>
              </a:rPr>
              <a:t>QuestionID</a:t>
            </a:r>
            <a:r>
              <a:rPr lang="en-US" dirty="0"/>
              <a:t> match current event is set to ’N’, or ‘Y’, respectively.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Attribute</a:t>
            </a:r>
            <a:r>
              <a:rPr lang="en-US" dirty="0">
                <a:solidFill>
                  <a:srgbClr val="00B050"/>
                </a:solidFill>
              </a:rPr>
              <a:t> PlayerScore</a:t>
            </a:r>
            <a:r>
              <a:rPr lang="en-US" dirty="0"/>
              <a:t> in </a:t>
            </a:r>
            <a:r>
              <a:rPr lang="en-US" dirty="0">
                <a:solidFill>
                  <a:srgbClr val="00B0F0"/>
                </a:solidFill>
              </a:rPr>
              <a:t>Contestant</a:t>
            </a:r>
            <a:r>
              <a:rPr lang="en-US" dirty="0"/>
              <a:t> where </a:t>
            </a:r>
            <a:r>
              <a:rPr lang="en-US" dirty="0">
                <a:solidFill>
                  <a:srgbClr val="00B050"/>
                </a:solidFill>
              </a:rPr>
              <a:t>PlayerID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GameID</a:t>
            </a:r>
            <a:r>
              <a:rPr lang="en-US" dirty="0"/>
              <a:t> match current event is credited/debited appropriately. (Doesn’t require a complex join to </a:t>
            </a:r>
            <a:r>
              <a:rPr lang="en-US" dirty="0">
                <a:solidFill>
                  <a:srgbClr val="00B0F0"/>
                </a:solidFill>
              </a:rPr>
              <a:t>Question</a:t>
            </a:r>
            <a:r>
              <a:rPr lang="en-US" dirty="0"/>
              <a:t> if Backend captured the point values when it originally queried the board contents from </a:t>
            </a:r>
            <a:r>
              <a:rPr lang="en-US" dirty="0">
                <a:solidFill>
                  <a:srgbClr val="00B0F0"/>
                </a:solidFill>
              </a:rPr>
              <a:t>Question</a:t>
            </a:r>
            <a:r>
              <a:rPr lang="en-US" dirty="0"/>
              <a:t>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dirty="0">
                <a:solidFill>
                  <a:srgbClr val="00B050"/>
                </a:solidFill>
              </a:rPr>
              <a:t>PlayerScore</a:t>
            </a:r>
            <a:r>
              <a:rPr lang="en-US" dirty="0"/>
              <a:t> increased, the DB internally fires a TRIGGER and automatically checks if the new </a:t>
            </a:r>
            <a:r>
              <a:rPr lang="en-US" dirty="0">
                <a:solidFill>
                  <a:srgbClr val="00B050"/>
                </a:solidFill>
              </a:rPr>
              <a:t>PlayerScore</a:t>
            </a:r>
            <a:r>
              <a:rPr lang="en-US" dirty="0"/>
              <a:t> exceeds their </a:t>
            </a:r>
            <a:r>
              <a:rPr lang="en-US" dirty="0">
                <a:solidFill>
                  <a:srgbClr val="00B050"/>
                </a:solidFill>
              </a:rPr>
              <a:t>HighScore</a:t>
            </a:r>
            <a:r>
              <a:rPr lang="en-US" dirty="0"/>
              <a:t> and updates it if so. No action from the backend required other than the score update above.</a:t>
            </a:r>
          </a:p>
        </p:txBody>
      </p:sp>
    </p:spTree>
    <p:extLst>
      <p:ext uri="{BB962C8B-B14F-4D97-AF65-F5344CB8AC3E}">
        <p14:creationId xmlns:p14="http://schemas.microsoft.com/office/powerpoint/2010/main" val="723654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78A6B-2C12-0C96-B298-840014857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59445" cy="3648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96A425-18B1-B0C1-97AD-73A1F9B13407}"/>
              </a:ext>
            </a:extLst>
          </p:cNvPr>
          <p:cNvSpPr txBox="1"/>
          <p:nvPr/>
        </p:nvSpPr>
        <p:spPr>
          <a:xfrm>
            <a:off x="-1" y="4463378"/>
            <a:ext cx="121920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Event: User clears board and reaches Game Over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DB internally fired a TRIGGER after the backend did Final !Jeopardy answer scoring, </a:t>
            </a:r>
            <a:r>
              <a:rPr lang="en-US" dirty="0">
                <a:solidFill>
                  <a:srgbClr val="00B050"/>
                </a:solidFill>
              </a:rPr>
              <a:t>HighScore</a:t>
            </a:r>
            <a:r>
              <a:rPr lang="en-US" dirty="0"/>
              <a:t> is already up-to-date and no further action is required 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Attribute</a:t>
            </a:r>
            <a:r>
              <a:rPr lang="en-US" dirty="0">
                <a:solidFill>
                  <a:srgbClr val="00B050"/>
                </a:solidFill>
              </a:rPr>
              <a:t> IsCompleteGame</a:t>
            </a:r>
            <a:r>
              <a:rPr lang="en-US" dirty="0"/>
              <a:t> in </a:t>
            </a:r>
            <a:r>
              <a:rPr lang="en-US" dirty="0">
                <a:solidFill>
                  <a:srgbClr val="00B0F0"/>
                </a:solidFill>
              </a:rPr>
              <a:t>Game</a:t>
            </a:r>
            <a:r>
              <a:rPr lang="en-US" dirty="0"/>
              <a:t> is set to ‘Y’. </a:t>
            </a:r>
            <a:r>
              <a:rPr lang="en-US" dirty="0">
                <a:solidFill>
                  <a:srgbClr val="00B050"/>
                </a:solidFill>
              </a:rPr>
              <a:t>EndDate </a:t>
            </a:r>
            <a:r>
              <a:rPr lang="en-US" dirty="0"/>
              <a:t>is set to DATETIME(‘now’).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FA68E1-2EC4-7260-C2A6-0389DFBF21BD}"/>
              </a:ext>
            </a:extLst>
          </p:cNvPr>
          <p:cNvGrpSpPr/>
          <p:nvPr/>
        </p:nvGrpSpPr>
        <p:grpSpPr>
          <a:xfrm>
            <a:off x="7561005" y="58992"/>
            <a:ext cx="4572000" cy="4356100"/>
            <a:chOff x="7561005" y="58992"/>
            <a:chExt cx="4572000" cy="43561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87FF7FF-7ECA-E8A1-9C73-1DE4FA285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1005" y="58992"/>
              <a:ext cx="4572000" cy="435610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1679158-4670-9235-92BC-BF9A7A1569A2}"/>
                </a:ext>
              </a:extLst>
            </p:cNvPr>
            <p:cNvSpPr/>
            <p:nvPr/>
          </p:nvSpPr>
          <p:spPr>
            <a:xfrm>
              <a:off x="9345561" y="3177152"/>
              <a:ext cx="1184787" cy="123793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939256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1642</TotalTime>
  <Words>773</Words>
  <Application>Microsoft Macintosh PowerPoint</Application>
  <PresentationFormat>Widescreen</PresentationFormat>
  <Paragraphs>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Parcel</vt:lpstr>
      <vt:lpstr>DB Interactions During Game flow</vt:lpstr>
      <vt:lpstr>Problem: Fitting constraint validation INTO the unittest framework</vt:lpstr>
      <vt:lpstr>New SQL ERD (v4)</vt:lpstr>
      <vt:lpstr>PowerPoint Presentation</vt:lpstr>
      <vt:lpstr>Game flow events from PAGE_TESTING.MD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Rachel Mertz</dc:creator>
  <cp:lastModifiedBy>Rachel Mertz</cp:lastModifiedBy>
  <cp:revision>56</cp:revision>
  <dcterms:created xsi:type="dcterms:W3CDTF">2025-10-31T18:12:54Z</dcterms:created>
  <dcterms:modified xsi:type="dcterms:W3CDTF">2025-11-13T16:03:26Z</dcterms:modified>
</cp:coreProperties>
</file>